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Reasoning</c:v>
                </c:pt>
                <c:pt idx="1">
                  <c:v>Tool Use</c:v>
                </c:pt>
                <c:pt idx="2">
                  <c:v>Memory</c:v>
                </c:pt>
                <c:pt idx="3">
                  <c:v>Safety</c:v>
                </c:pt>
                <c:pt idx="4">
                  <c:v>Cost / Latency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76</c:v>
                </c:pt>
                <c:pt idx="2">
                  <c:v>41</c:v>
                </c:pt>
                <c:pt idx="3">
                  <c:v>33</c:v>
                </c:pt>
                <c:pt idx="4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47-A24E-A072-02B8429AA7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033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REVIEW  •  SHORT STORY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LLM-driven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Agents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Technology, Practice, and Evaluation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Real-World Autonomous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0972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San José State University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Tang et al., 2025  •  arXiv:2510.17491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680960" y="2560320"/>
            <a:ext cx="1828800" cy="182880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14B8A6"/>
            </a:solidFill>
            <a:prstDash val="solid"/>
          </a:ln>
          <a:effectLst>
            <a:outerShdw blurRad="1778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063240"/>
            <a:ext cx="822960" cy="8229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0" y="4343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595360" y="3474720"/>
            <a:ext cx="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72200" y="187452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048256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595360" y="3474720"/>
            <a:ext cx="20116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0195560" y="187452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204825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96696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595360" y="3474720"/>
            <a:ext cx="0" cy="11887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172200" y="4251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5A8C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442569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943600" y="5102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595360" y="3474720"/>
            <a:ext cx="2011680" cy="118872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10195560" y="4251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9296" y="4425696"/>
            <a:ext cx="475488" cy="4754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966960" y="5102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Lab Demos to Industrial Productivity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73152" cy="4206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“LLM agents can reason, plan and execute tasks autonomously — but how do we translate that capability into industrial productivity that actually transforms how work gets done?”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Tang et al., 2025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521208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5212080"/>
            <a:ext cx="155448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14600" y="5212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60520" y="5212080"/>
            <a:ext cx="21945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160520" y="5212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FOCUS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9440" y="1645920"/>
            <a:ext cx="4663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949440" y="1645920"/>
            <a:ext cx="73152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901952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8181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vs. Prototype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7818120" y="221284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deployment demands reliability, governance, and integration — not just benchmark wins.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949440" y="3108960"/>
            <a:ext cx="4663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949440" y="3108960"/>
            <a:ext cx="73152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36499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8181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Maturity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818120" y="3675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that traces agents from rigid process execution to adaptive social systems.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949440" y="4572000"/>
            <a:ext cx="466344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949440" y="4572000"/>
            <a:ext cx="73152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4828032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181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Tensions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818120" y="5138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vs. simulation, autonomy vs. safety, and generality vs. domain depth.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Research-Grade Agents Don’t 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Agents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papers usually optimise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accuracy on curated tasks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or short-horizon reasoning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tool sets in a controlled sandbox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by aggregate score, not workflow value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constraints on cost, latency or governance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86400" cy="457200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Agents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deployments actually need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5603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completion, not single tasks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memory across sessions and users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tool ecosystems, APIs and legacy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SLA-grade reliability, observability, audit trails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safety boundaries, human-in-the-loop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33288" y="3657600"/>
            <a:ext cx="694944" cy="6949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3803904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3212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Short Story  •  arXiv:2510.17491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SURVEY’S CORE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Agent Capability Maturity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tracing the evolution from rigid automation to adaptive ecosystems.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725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072579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Execution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13410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356616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RPA-style flows. Deterministic, no reasoning.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04099" y="1920240"/>
            <a:ext cx="20725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04099" y="1920240"/>
            <a:ext cx="2072579" cy="594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804099" y="2029968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41259" y="269748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Assistant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69859" y="3474720"/>
            <a:ext cx="13410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68691" y="356616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responds in-context to user prompts. Single tool calls.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59558" y="1920240"/>
            <a:ext cx="20725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59558" y="1920240"/>
            <a:ext cx="2072579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59558" y="2029968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96718" y="269748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Worker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25318" y="3474720"/>
            <a:ext cx="13410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24150" y="356616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planning, memory, recovers from errors.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017" y="1920240"/>
            <a:ext cx="20725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017" y="1920240"/>
            <a:ext cx="2072579" cy="594360"/>
          </a:xfrm>
          <a:prstGeom prst="rect">
            <a:avLst/>
          </a:prstGeom>
          <a:solidFill>
            <a:srgbClr val="2D5A8C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017" y="2029968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52177" y="269748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Agent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80777" y="3474720"/>
            <a:ext cx="13410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79609" y="356616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with humans and other agents on shared goals.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570476" y="1920240"/>
            <a:ext cx="2072579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570476" y="1920240"/>
            <a:ext cx="2072579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70476" y="2029968"/>
            <a:ext cx="20725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07636" y="2697480"/>
            <a:ext cx="17982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Social System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936236" y="3474720"/>
            <a:ext cx="134105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735068" y="3566160"/>
            <a:ext cx="17433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network of agents shaping workflows.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806440"/>
            <a:ext cx="10728655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277295" y="5742432"/>
            <a:ext cx="0" cy="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Automation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85455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Ecosystem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Technological Pillars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industry-grade LLM agent is built on top of these three capabilities.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7621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76218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267712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031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542032"/>
            <a:ext cx="2204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remembers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337560"/>
            <a:ext cx="293613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context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episodic store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symbolic retrieval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/ self-summarisation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07738" y="1828800"/>
            <a:ext cx="357621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07738" y="1828800"/>
            <a:ext cx="3576218" cy="123444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27778" y="210312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370" y="2267712"/>
            <a:ext cx="448056" cy="4480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42178" y="21031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5542178" y="2542032"/>
            <a:ext cx="2204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decides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27778" y="3337560"/>
            <a:ext cx="293613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&amp; ReAct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/ graph search over 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 &amp; sub-goals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Reflection-based replanning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066837" y="1828800"/>
            <a:ext cx="357621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066837" y="1828800"/>
            <a:ext cx="3576218" cy="123444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386877" y="210312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1469" y="2267712"/>
            <a:ext cx="448056" cy="4480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301277" y="2103120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9301277" y="2542032"/>
            <a:ext cx="2204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acts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386877" y="3337560"/>
            <a:ext cx="2936138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APIs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&amp; GUI control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sandboxes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systems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Memory: From Context Window to Persistent Knowledge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438912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42316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496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807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context window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438912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675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sessions &amp; traces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160520"/>
            <a:ext cx="438912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109728" cy="777240"/>
          </a:xfrm>
          <a:prstGeom prst="rect">
            <a:avLst/>
          </a:prstGeom>
          <a:solidFill>
            <a:srgbClr val="2D5A8C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88720" y="42336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544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docs, knowledge graphs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5029200"/>
            <a:ext cx="43891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5029200"/>
            <a:ext cx="109728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88720" y="5102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413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skills &amp; playbooks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737360"/>
            <a:ext cx="560801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168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903720" y="192024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a first-class citizen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03720" y="2304288"/>
            <a:ext cx="4602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memory == vector store + symbolic index + ranker. Pure context-window scaling is not enough.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200400"/>
            <a:ext cx="560801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035040" y="320040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474720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03720" y="338328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compresses experience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903720" y="3767328"/>
            <a:ext cx="4602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summarise their own traces so memory grows slower than time and stays useful long-term.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035040" y="4663440"/>
            <a:ext cx="560801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035040" y="466344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937760"/>
            <a:ext cx="457200" cy="4572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903720" y="484632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needs governance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6903720" y="5230368"/>
            <a:ext cx="4602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handling, retention windows, and access control move from app code into the memory layer itself.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Planning: How Agents Decide What To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step-by-step reasoning before answering.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73152" cy="1783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(Reason + Act)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23760" y="2514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reasoning with tool calls; observe &amp; continue.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73152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/ Graph Search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44805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over candidate actions, score, and prune.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703320"/>
            <a:ext cx="54864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3703320"/>
            <a:ext cx="73152" cy="1783080"/>
          </a:xfrm>
          <a:prstGeom prst="rect">
            <a:avLst/>
          </a:prstGeom>
          <a:solidFill>
            <a:srgbClr val="2D5A8C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92240" y="3977640"/>
            <a:ext cx="594360" cy="594360"/>
          </a:xfrm>
          <a:prstGeom prst="ellipse">
            <a:avLst/>
          </a:prstGeom>
          <a:solidFill>
            <a:srgbClr val="2D5A8C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3977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Replan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223760" y="44805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failed traces and revise the plan.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6928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371600" y="56509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takeaway: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023360" y="5650992"/>
            <a:ext cx="7528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blend strategies — CoT for narrow steps, ReAct for tool loops, search for risky branches, reflection for recovery.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Use: The Agent’s Hands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828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57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next 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182880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0" y="1828800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2157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Router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&amp; calls tool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1828800"/>
            <a:ext cx="23774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828800"/>
            <a:ext cx="23774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215798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Ecosystem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560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Browser · Code · DB · CRM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1828800"/>
            <a:ext cx="1828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D5A8C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1828800" cy="274320"/>
          </a:xfrm>
          <a:prstGeom prst="rect">
            <a:avLst/>
          </a:prstGeom>
          <a:solidFill>
            <a:srgbClr val="2D5A8C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2157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2560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Result, state, error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72600" y="256032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601200" y="1828800"/>
            <a:ext cx="19202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0" y="1828800"/>
            <a:ext cx="1920240" cy="274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0" y="21579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Update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38360" y="2560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stored, plan revised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515600" y="3383280"/>
            <a:ext cx="0" cy="5486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554480" y="3931920"/>
            <a:ext cx="89611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554480" y="3383280"/>
            <a:ext cx="0" cy="54864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feedback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434840"/>
            <a:ext cx="357621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4434840"/>
            <a:ext cx="73152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09160"/>
            <a:ext cx="502920" cy="5029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63040" y="4709160"/>
            <a:ext cx="2524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surface = attack surface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22960" y="534924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Sandboxing, scoped credentials and policy checks are non-negotiable.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307738" y="4434840"/>
            <a:ext cx="357621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307738" y="4434840"/>
            <a:ext cx="73152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338" y="4709160"/>
            <a:ext cx="502920" cy="50292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222138" y="4709160"/>
            <a:ext cx="2524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a product feature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4582058" y="534924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batching, caching, and async patterns dominate UX quality.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8066837" y="4434840"/>
            <a:ext cx="3576218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9"/>
          <p:cNvSpPr/>
          <p:nvPr/>
        </p:nvSpPr>
        <p:spPr>
          <a:xfrm>
            <a:off x="8066837" y="4434840"/>
            <a:ext cx="73152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437" y="4709160"/>
            <a:ext cx="502920" cy="5029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981237" y="4709160"/>
            <a:ext cx="2524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 beat free text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8341157" y="5349240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typed function signatures massively reduce hallucinated calls.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Domains Where Industry Agents Are Landing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7621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76218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70989" y="1874520"/>
            <a:ext cx="731520" cy="7315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717" y="19842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8892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Engineering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copilots, autonomous SWE, CI/CD agents.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7738" y="1691640"/>
            <a:ext cx="357621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07738" y="1691640"/>
            <a:ext cx="3576218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30088" y="187452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198424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90618" y="278892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Discovery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90618" y="32918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review, hypothesis &amp; experiment design.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66837" y="1691640"/>
            <a:ext cx="357621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66837" y="1691640"/>
            <a:ext cx="3576218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489186" y="187452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8914" y="1984248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49717" y="278892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Embodied Intelligence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49717" y="329184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Robotics, navigation, physical task execution.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428189" y="4160520"/>
            <a:ext cx="357621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2428189" y="4160520"/>
            <a:ext cx="3576218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3850538" y="4343400"/>
            <a:ext cx="731520" cy="731520"/>
          </a:xfrm>
          <a:prstGeom prst="ellipse">
            <a:avLst/>
          </a:prstGeom>
          <a:solidFill>
            <a:srgbClr val="2D5A8C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0266" y="4453128"/>
            <a:ext cx="512064" cy="5120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611069" y="52578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Business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2611069" y="57607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CX, sales, ops — agents working alongside teams.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87288" y="4160520"/>
            <a:ext cx="3576218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6187288" y="4160520"/>
            <a:ext cx="3576218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609637" y="434340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9365" y="4453128"/>
            <a:ext cx="512064" cy="5120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370168" y="525780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System Simulation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6370168" y="57607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traffic, supply chains, social dynamics.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Short Story  •  arXiv:2510.17491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MATURITY IS HIGHEST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Spotlight: Engineering &amp; Scientific Discovery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004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10048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45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56232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Engineering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47699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Repo-scale code generation &amp; PR review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synthesis, bug triage, log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agents: deploy, observe, roll back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&amp; incident response copilots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48614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470916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mature here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5029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digital traces · clear success signals (tests pass) · tooling already API-first · safe sandboxes.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33008" y="1737360"/>
            <a:ext cx="541004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33008" y="1737360"/>
            <a:ext cx="541004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8745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73088" y="1856232"/>
            <a:ext cx="467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Discovery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07328" y="251460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agents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553048" y="2834640"/>
            <a:ext cx="476996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gap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generation from prior 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 &amp; lab-tool control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 &amp; paper drafting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507328" y="4617720"/>
            <a:ext cx="486140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507328" y="4709160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hard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553048" y="5029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horizons · expensive real-world experiments · novelty is poorly captured by benchmark accuracy.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INDUSTRY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Evaluation: Beyond Accuracy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evaluation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9728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72491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Capabilities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2971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tool use, planning quality, memory recall on canonical tasks.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61188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22960" y="3611880"/>
            <a:ext cx="10972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86791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Benchmarks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737360" y="4114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suites — software, science, web, embodied.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4754880"/>
            <a:ext cx="4937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2960" y="4754880"/>
            <a:ext cx="10972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501091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4892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37360" y="52578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completion rate, cost, latency, user trust, regret.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coverage of agent eval suites (%)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0936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tool use are over-served; long-term memory, safety and cost remain under-measured.</a:t>
            </a:r>
            <a:endParaRPr lang="en-US" sz="10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309360" y="251460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Text 18"/>
          <p:cNvSpPr/>
          <p:nvPr/>
        </p:nvSpPr>
        <p:spPr>
          <a:xfrm>
            <a:off x="630936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Author’s estimate from surveyed benchmarks — not a measured statistic.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STILL HARD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Challenges for Real-World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4573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73152" cy="21259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1168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743200"/>
            <a:ext cx="299709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rarely match the noise, partial info, and politics of real workflows.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2978" y="1737360"/>
            <a:ext cx="354573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22978" y="1737360"/>
            <a:ext cx="73152" cy="21259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97298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738" y="21031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74538" y="201168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Governance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97298" y="2743200"/>
            <a:ext cx="299709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Boundaries, audit logs and human override are still bolted on, not designed in.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97317" y="1737360"/>
            <a:ext cx="354573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097317" y="1737360"/>
            <a:ext cx="73152" cy="21259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371637" y="201168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077" y="2103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48877" y="201168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Long-Horizon Memory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71637" y="2743200"/>
            <a:ext cx="299709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what to remember, forget, and surface — over months, not minutes.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091940"/>
            <a:ext cx="354573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548640" y="4091940"/>
            <a:ext cx="73152" cy="2125980"/>
          </a:xfrm>
          <a:prstGeom prst="rect">
            <a:avLst/>
          </a:prstGeom>
          <a:solidFill>
            <a:srgbClr val="2D5A8C"/>
          </a:solidFill>
          <a:ln w="1270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22960" y="43662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D5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577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436626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Latency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22960" y="5097780"/>
            <a:ext cx="299709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loops multiply tokens; production needs caching, distillation, async I/O.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322978" y="4091940"/>
            <a:ext cx="354573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4322978" y="4091940"/>
            <a:ext cx="73152" cy="21259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597298" y="43662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8738" y="4457700"/>
            <a:ext cx="457200" cy="4572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74538" y="436626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597298" y="5097780"/>
            <a:ext cx="299709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assignment, conflict resolution and shared state at scale.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097317" y="4091940"/>
            <a:ext cx="3545738" cy="21259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8097317" y="4091940"/>
            <a:ext cx="73152" cy="21259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8371637" y="43662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077" y="4457700"/>
            <a:ext cx="457200" cy="4572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48877" y="4366260"/>
            <a:ext cx="2357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371637" y="5097780"/>
            <a:ext cx="299709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Tuning, tool wiring and evaluation for each vertical without redoing everything.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REVIEWER’S NOTES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Critical Take on the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0048" cy="420624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6596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486140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survey to centre maturity instead of model size.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agent research with concrete industrial pillars.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evaluation as multi-layer, not a single leaderboard.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flags safety &amp; governance as core, not optional.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33008" y="1737360"/>
            <a:ext cx="5410048" cy="4206240"/>
          </a:xfrm>
          <a:prstGeom prst="rect">
            <a:avLst/>
          </a:prstGeom>
          <a:solidFill>
            <a:srgbClr val="FFFBEB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19659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01688" y="196596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Could Go Deeper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53048" y="2651760"/>
            <a:ext cx="486140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quantitative cross-domain comparisons.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treatment of cost / latency engineering.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governance is described but not benchmarked.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vs. proprietary agent gap is under-discussed.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 Short Story  •  arXiv:2510.17491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FIVE THINGS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926275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26275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5605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agents are a category, not a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analysis is the workflow, not the LLM call.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40675" y="1737360"/>
            <a:ext cx="1926275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840675" y="1737360"/>
            <a:ext cx="1926275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40675" y="1901952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023555" y="3063240"/>
            <a:ext cx="15605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Planning + Tools is the canonical stack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23555" y="4389120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design re-derives these three pillars.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32710" y="1737360"/>
            <a:ext cx="1926275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32710" y="1737360"/>
            <a:ext cx="1926275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32710" y="1901952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315590" y="3063240"/>
            <a:ext cx="15605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Maturity, not accuracy, is the right yardstick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15590" y="4389120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→ L5 captures organisational fit better than benchmarks.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24745" y="1737360"/>
            <a:ext cx="1926275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24745" y="1737360"/>
            <a:ext cx="1926275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24745" y="1901952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607625" y="3063240"/>
            <a:ext cx="15605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must be multi-layered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07625" y="4389120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+ domain + real-world impact, together.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16780" y="1737360"/>
            <a:ext cx="1926275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716780" y="1737360"/>
            <a:ext cx="1926275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16780" y="1901952"/>
            <a:ext cx="19262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9899660" y="3063240"/>
            <a:ext cx="15605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the new performance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99660" y="4389120"/>
            <a:ext cx="15605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Auditability, safety, and cost decide what actually ships.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• Short Story  •  arXiv:2510.17491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critiques, and disagreements very welcome.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474720"/>
            <a:ext cx="100584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3703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reference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5880" y="4069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Yihong Tang, Kehai Chen, Liang Yue, Jinxin Fan, Caishen Zhou, Xiaoguang Li, Yuyang Zhang, Mingming Zhao, Shixiong Kai, Kaiyang Guo, Xingshan Zeng, Wenjing Cun, Lifeng Shang, Min Zhang.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325880" y="47548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“Empowering Real-World: A Survey on the Technology, Practice, and Evaluation of LLM-driven Industry Agents.” arXiv preprint arXiv:2510.17491, October 2025.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Pranjal Shrivastava   •  San José State University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1493</Words>
  <Application>Microsoft Macintosh PowerPoint</Application>
  <PresentationFormat>Widescreen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LLM-driven Industry Agents — Survey Review</dc:title>
  <dc:subject>PptxGenJS Presentation</dc:subject>
  <dc:creator>Pranjal Shrivastava</dc:creator>
  <cp:lastModifiedBy>Pranjal Shrivastava</cp:lastModifiedBy>
  <cp:revision>3</cp:revision>
  <dcterms:created xsi:type="dcterms:W3CDTF">2026-05-14T01:29:38Z</dcterms:created>
  <dcterms:modified xsi:type="dcterms:W3CDTF">2026-05-14T01:35:10Z</dcterms:modified>
</cp:coreProperties>
</file>